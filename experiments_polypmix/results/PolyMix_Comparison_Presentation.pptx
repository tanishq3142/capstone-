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428" y="2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7E3E17-1811-4980-B8CF-6FBDA49EC77D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B2B98-B7D2-4A23-937C-50DBA38E04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8919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Bar chart comparing best dice scores between ratios across training sizes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Heatmap showing dice scores for both ratios and all training sizes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Number of epochs to reach best dice 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Epoch-wise validation dice comparison for each training 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How training size affects performance within each ratio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Detailed training curves for training size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Detailed training curves for training size 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Detailed training curves for training size 75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Detailed training curves for training size 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Detailed training curves for training size 490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Validation loss curves across training sizes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E86AB"/>
                </a:solidFill>
              </a:defRPr>
            </a:pPr>
            <a:r>
              <a:t>PolyMix Algorithm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46464"/>
                </a:solidFill>
              </a:defRPr>
            </a:pPr>
            <a:r>
              <a:t>Augmentation Ratio 1.0 vs Ratio 2.0</a:t>
            </a:r>
            <a:br/>
            <a:r>
              <a:t>Capstone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274320"/>
            <a:ext cx="8595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E86AB"/>
                </a:solidFill>
              </a:defRPr>
            </a:pPr>
            <a:r>
              <a:t>Experiment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rPr dirty="0"/>
              <a:t> Experiment Configuration: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Batch Size: 8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Learning Rate: 0.0001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Image Size: 224 × 224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Early Stopping: 10 epochs patience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Maximum Epochs: 50</a:t>
            </a:r>
          </a:p>
          <a:p>
            <a:pPr>
              <a:spcAft>
                <a:spcPts val="1200"/>
              </a:spcAft>
              <a:defRPr sz="1800"/>
            </a:pPr>
            <a:endParaRPr dirty="0"/>
          </a:p>
          <a:p>
            <a:pPr>
              <a:spcAft>
                <a:spcPts val="1200"/>
              </a:spcAft>
              <a:defRPr sz="1800"/>
            </a:pPr>
            <a:r>
              <a:rPr dirty="0"/>
              <a:t> Training Sizes Tested: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25, 50, 75, 100, 490 images</a:t>
            </a:r>
          </a:p>
          <a:p>
            <a:pPr>
              <a:spcAft>
                <a:spcPts val="1200"/>
              </a:spcAft>
              <a:defRPr sz="1800"/>
            </a:pPr>
            <a:endParaRPr dirty="0"/>
          </a:p>
          <a:p>
            <a:pPr>
              <a:spcAft>
                <a:spcPts val="1200"/>
              </a:spcAft>
              <a:defRPr sz="1800"/>
            </a:pPr>
            <a:r>
              <a:rPr dirty="0"/>
              <a:t> Model Selection Criterion:</a:t>
            </a:r>
          </a:p>
          <a:p>
            <a:pPr>
              <a:spcAft>
                <a:spcPts val="1200"/>
              </a:spcAft>
              <a:defRPr sz="1800" b="1"/>
            </a:pPr>
            <a:r>
              <a:rPr dirty="0"/>
              <a:t>   • Best Validation Dice Score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Performance Comparison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Best Validation Dice Score Comparison</a:t>
            </a:r>
          </a:p>
        </p:txBody>
      </p:sp>
      <p:pic>
        <p:nvPicPr>
          <p:cNvPr id="3" name="Picture 2" descr="best_dic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8412480" cy="48656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Performance Heatmap Overview</a:t>
            </a:r>
          </a:p>
        </p:txBody>
      </p:sp>
      <p:pic>
        <p:nvPicPr>
          <p:cNvPr id="3" name="Picture 2" descr="dic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8412480" cy="52871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27432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Best Validation Dice Scores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Training Size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Ratio 1.0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Ratio 2.0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0.8577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Ratio 1.0 (+0.03%)</a:t>
                      </a:r>
                    </a:p>
                  </a:txBody>
                  <a:tcPr>
                    <a:solidFill>
                      <a:srgbClr val="C8E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0.8691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0.8827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Ratio 2.0 (+1.6%)</a:t>
                      </a:r>
                    </a:p>
                  </a:txBody>
                  <a:tcPr>
                    <a:solidFill>
                      <a:srgbClr val="FFDC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0.8837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0.8881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Ratio 2.0 (+0.5%)</a:t>
                      </a:r>
                    </a:p>
                  </a:txBody>
                  <a:tcPr>
                    <a:solidFill>
                      <a:srgbClr val="FFDC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0.8923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0.8785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Ratio 1.0 (+1.4%)</a:t>
                      </a:r>
                    </a:p>
                  </a:txBody>
                  <a:tcPr>
                    <a:solidFill>
                      <a:srgbClr val="C8E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0.9421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0.9443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Ratio 2.0 (+0.2%)</a:t>
                      </a:r>
                    </a:p>
                  </a:txBody>
                  <a:tcPr>
                    <a:solidFill>
                      <a:srgbClr val="FFDC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Training Dynamics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Convergence Speed Analysis</a:t>
            </a:r>
          </a:p>
        </p:txBody>
      </p:sp>
      <p:pic>
        <p:nvPicPr>
          <p:cNvPr id="3" name="Picture 2" descr="convergenc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8412480" cy="486938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Validation Dice Across Training Sizes</a:t>
            </a:r>
          </a:p>
        </p:txBody>
      </p:sp>
      <p:pic>
        <p:nvPicPr>
          <p:cNvPr id="3" name="Picture 2" descr="val_dice_by_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8412480" cy="57959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Training Size Effect per Augmentation Ratio</a:t>
            </a:r>
          </a:p>
        </p:txBody>
      </p:sp>
      <p:pic>
        <p:nvPicPr>
          <p:cNvPr id="3" name="Picture 2" descr="size_effect_per_rat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8412480" cy="32637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Detailed Training Curves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Training Curves - 25 Images</a:t>
            </a:r>
          </a:p>
        </p:txBody>
      </p:sp>
      <p:pic>
        <p:nvPicPr>
          <p:cNvPr id="3" name="Picture 2" descr="training_curves_ts_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8412480" cy="579597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Training Curves - 50 Images</a:t>
            </a:r>
          </a:p>
        </p:txBody>
      </p:sp>
      <p:pic>
        <p:nvPicPr>
          <p:cNvPr id="3" name="Picture 2" descr="training_curves_ts_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8412480" cy="579597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Training Curves - 75 Images</a:t>
            </a:r>
          </a:p>
        </p:txBody>
      </p:sp>
      <p:pic>
        <p:nvPicPr>
          <p:cNvPr id="3" name="Picture 2" descr="training_curves_ts_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8412480" cy="579597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Training Curves - 100 Images</a:t>
            </a:r>
          </a:p>
        </p:txBody>
      </p:sp>
      <p:pic>
        <p:nvPicPr>
          <p:cNvPr id="3" name="Picture 2" descr="training_curves_ts_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8412480" cy="578947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Training Curves - 490 Images</a:t>
            </a:r>
          </a:p>
        </p:txBody>
      </p:sp>
      <p:pic>
        <p:nvPicPr>
          <p:cNvPr id="3" name="Picture 2" descr="training_curves_ts_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8412480" cy="579597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86AB"/>
                </a:solidFill>
              </a:defRPr>
            </a:pPr>
            <a:r>
              <a:t>Validation Loss Comparison</a:t>
            </a:r>
          </a:p>
        </p:txBody>
      </p:sp>
      <p:pic>
        <p:nvPicPr>
          <p:cNvPr id="3" name="Picture 2" descr="val_loss_by_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8412480" cy="579597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Summary &amp; Conclusions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274320"/>
            <a:ext cx="8595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E86AB"/>
                </a:solidFill>
              </a:defRPr>
            </a:pPr>
            <a:r>
              <a:t>Key Findings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97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rPr dirty="0"/>
              <a:t> Overall Performance: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Ratio 2.0 wins in 3/5 training sizes (50, 75, 490)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Ratio 1.0 wins in 2/5 training sizes (25, 100)</a:t>
            </a:r>
          </a:p>
          <a:p>
            <a:pPr>
              <a:spcAft>
                <a:spcPts val="1200"/>
              </a:spcAft>
              <a:defRPr sz="1800"/>
            </a:pPr>
            <a:endParaRPr dirty="0"/>
          </a:p>
          <a:p>
            <a:pPr>
              <a:spcAft>
                <a:spcPts val="1200"/>
              </a:spcAft>
              <a:defRPr sz="1800" b="1"/>
            </a:pPr>
            <a:r>
              <a:rPr dirty="0"/>
              <a:t>Best Results Achieved: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Highest Dice Score: 0.9443 (Ratio 2.0, TS=490)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Both ratios achieve &gt;94% Dice with full dataset</a:t>
            </a:r>
          </a:p>
          <a:p>
            <a:pPr>
              <a:spcAft>
                <a:spcPts val="1200"/>
              </a:spcAft>
              <a:defRPr sz="1800"/>
            </a:pPr>
            <a:endParaRPr dirty="0"/>
          </a:p>
          <a:p>
            <a:pPr>
              <a:spcAft>
                <a:spcPts val="1200"/>
              </a:spcAft>
              <a:defRPr sz="1800"/>
            </a:pPr>
            <a:r>
              <a:rPr dirty="0"/>
              <a:t> Convergence Patterns: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Smaller datasets (25, 50) require more epochs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Larger datasets converge faster (within 15-25 epochs)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Recommendations: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Use Ratio 2.0 for limited data scenarios (50-75 images)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• Both ratios work similarly well with large datasets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274320"/>
            <a:ext cx="8595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E86AB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6832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rPr dirty="0"/>
              <a:t> Conclusions:</a:t>
            </a:r>
          </a:p>
          <a:p>
            <a:pPr>
              <a:spcAft>
                <a:spcPts val="1200"/>
              </a:spcAft>
              <a:defRPr sz="1800"/>
            </a:pPr>
            <a:endParaRPr dirty="0"/>
          </a:p>
          <a:p>
            <a:pPr>
              <a:spcAft>
                <a:spcPts val="1200"/>
              </a:spcAft>
              <a:defRPr sz="1800"/>
            </a:pPr>
            <a:r>
              <a:rPr dirty="0"/>
              <a:t>1. Both augmentation ratios achieve strong performance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with best Dice scores exceeding 94%</a:t>
            </a:r>
          </a:p>
          <a:p>
            <a:pPr>
              <a:spcAft>
                <a:spcPts val="1200"/>
              </a:spcAft>
              <a:defRPr sz="1800"/>
            </a:pPr>
            <a:endParaRPr dirty="0"/>
          </a:p>
          <a:p>
            <a:pPr>
              <a:spcAft>
                <a:spcPts val="1200"/>
              </a:spcAft>
              <a:defRPr sz="1800"/>
            </a:pPr>
            <a:r>
              <a:rPr dirty="0"/>
              <a:t>2. Ratio 2.0 shows slight advantage for medium-sized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datasets (50-75 images)</a:t>
            </a:r>
          </a:p>
          <a:p>
            <a:pPr>
              <a:spcAft>
                <a:spcPts val="1200"/>
              </a:spcAft>
              <a:defRPr sz="1800"/>
            </a:pPr>
            <a:endParaRPr dirty="0"/>
          </a:p>
          <a:p>
            <a:pPr>
              <a:spcAft>
                <a:spcPts val="1200"/>
              </a:spcAft>
              <a:defRPr sz="1800"/>
            </a:pPr>
            <a:r>
              <a:rPr dirty="0"/>
              <a:t>3. Ratio 1.0 performs better with very small (25) and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moderate (100) training sets</a:t>
            </a:r>
          </a:p>
          <a:p>
            <a:pPr>
              <a:spcAft>
                <a:spcPts val="1200"/>
              </a:spcAft>
              <a:defRPr sz="1800"/>
            </a:pPr>
            <a:endParaRPr dirty="0"/>
          </a:p>
          <a:p>
            <a:pPr>
              <a:spcAft>
                <a:spcPts val="1200"/>
              </a:spcAft>
              <a:defRPr sz="1800"/>
            </a:pPr>
            <a:r>
              <a:rPr dirty="0"/>
              <a:t>4. Training size has the most significant impact on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final model performance</a:t>
            </a:r>
          </a:p>
          <a:p>
            <a:pPr>
              <a:spcAft>
                <a:spcPts val="1200"/>
              </a:spcAft>
              <a:defRPr sz="1800"/>
            </a:pPr>
            <a:endParaRPr dirty="0"/>
          </a:p>
          <a:p>
            <a:pPr>
              <a:spcAft>
                <a:spcPts val="1200"/>
              </a:spcAft>
              <a:defRPr sz="1800"/>
            </a:pPr>
            <a:r>
              <a:rPr dirty="0"/>
              <a:t>5. Early stopping effectively prevents overfitting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   in all configurations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E86AB"/>
                </a:solidFill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483</Words>
  <Application>Microsoft Office PowerPoint</Application>
  <PresentationFormat>On-screen Show (4:3)</PresentationFormat>
  <Paragraphs>99</Paragraphs>
  <Slides>21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Tanishq Gupta</cp:lastModifiedBy>
  <cp:revision>3</cp:revision>
  <dcterms:created xsi:type="dcterms:W3CDTF">2013-01-27T09:14:16Z</dcterms:created>
  <dcterms:modified xsi:type="dcterms:W3CDTF">2026-02-06T05:39:07Z</dcterms:modified>
  <cp:category/>
</cp:coreProperties>
</file>